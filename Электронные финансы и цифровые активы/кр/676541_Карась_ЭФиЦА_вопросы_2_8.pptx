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18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Презентация сопровождает устный ответ на два экзаменационных вопроса: «Основные смысловые особенности цифрового актива» и «Электронные деньги».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Определение: цифровой актив — информационный ресурс, производный от права на ценность и обращающийся в распределённом реестре в виде уникального идентификатора (И. В. Насонова). Три характеристики: нематериальная форма, наличие прав у лица, ценность. Цифровые представления фидуциарных валют к цифровым активам не относятся.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сущностно-смысловые составляющие понятия цифрового актива: экономическая (уникальный идентификатор), правовая (производность от права на ценность), информационная (информационный ресурс в распределённом реестре), ценностная (цифровое отображение ценности).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Экономическая составляющая — уникальный идентификатор в финансовой сфере. Правовая — цифровой актив не является правом на ценность в классическом толковании, но производен от него. В Декрете № 8 токен определён как запись в реестре блоков транзакций, удостоверяющая права на объекты гражданских прав и (или) являющаяся криптовалютой.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Свойства информации о ценности как информационного ресурса: а) структурированность по параметрам и категориям; б) фиксация на цифровом носителе; в) возможность хранить, передавать, обменивать, использовать. Обращение — в распределённом реестре.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Ценностная составляющая — в сфере материальных и нематериальных благ: цифровой актив — гарантированное право претендовать на определённое значение стоимости, цифровое отображение ценности. Она объединяет экономическую, правовую и информационную составляющие.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Примеры цифровых активов: цифровые токены (включая криптовалюты), содержимое цифровых активов (изображения, видео, документы), пакеты данных, цифровые модели (интернет вещей), цифровые товары или услуги (дисковое пространство), доменные имена и IP-адреса, учётные записи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Смежные понятия: токен (Декрет № 8), криптоактив, служебные и инвестиционные токены, стейблкойн, цифровая валюта центрального банка. ЦВЦБ — обязательство центрального банка, не является криптоактивом.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по вопросу 2: определение через четыре составляющие, свойства информационного ресурса, три ключевых признака цифрового актива.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Определение НБ РБ: единицы стоимости, выпущенные в обмен на наличные или безналичные средства, принимаемые как средство платежа и выражающие обязательство эмитента. Критерии ЕС: электронный носитель, полный обеспеченный выпуск, принятие третьими лицами. Появление — 1994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Электронные деньги — не безналичная форма, а аналог наличных: анонимны, многократны, уникальные номера цифровых банкнот, передаются без посредников. Как неперсонифицированный продукт могут иметь отдельное обращение, но могут обращаться и в государственных и банковских системах.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Классификация: по технологии (смарт-карты и сети), по собственности (государственные и частные), по идентификации (анонимные и персонифицированные), по типу эквивалента (минуты, фиатная валюта, криптовалюта, токены).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Фиатные ЭД — обязательства в валюте государства (Visa Cash, PayPal, M-PESA, предоплаченные карты). Нефиатные — частные деньги негосударственных систем (Perfect Money, EasyPay, WebMoney, PayCash). Криптовалюты: неофициальные (биткоин, эфир) и официальная (петро).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Аппаратные продукты — чип-карты, работа без сетевого подключения; программные — ПО на ПК с онлайн-контролем эмитента. Балансовые системы — счета, онлайн, неанонимные; символьные — цифровые банкноты, анонимность.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электронных денег — модель с подсистемами под контролем системного администратора. Три операционные области: взаиморасчётов, эмиссионная, использования. Участники: эмитент, держатель, получатель, банки-агенты, системный администратор.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Требования: оффлайновая совместимость, безопасность, анонимность, окончательность расчётов, портативность, удобство использования. Низкая степень соответствия — главное препятствие широкого внедрения (И. В. Насонова, 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Регулятивная составляющая: жёсткие нормы объёма эмиссии; правовая природа — денежное обязательство эмитента (аналогии с чеками и векселями). В Беларуси эмитенты — только банки и НКФО; ключевые акты: постановление НБ РБ № 201 от 26.11.2003, Банковский кодекс, Декреты № 6, № 12 и №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01.01.2021 операции с электронными деньгами уведомили восемь банков: Белгазпромбанк (Берлио, V-coin), Белинвестбанк (Оплати), Технобанк (WebMoney Transfer BYN), Паритетбанк (iPay), Дабрабыт (МТС Деньги), Банк «Решение» (iPay, QIWI Бел), БПС-Сбербанк (ePay), Беларусбанк и Приорбанк (предоплаченные карты MasterCard).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Заключительный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8580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образования Республики Беларусь   |   Учреждение образования «БГУИР»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1042416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Инженерно-экономический факультет   |   Кафедра менеджмента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к ответу на экзаменационные вопросы по дисциплине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51460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C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«Электронные финансы и цифровые активы»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911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смысловые особенности цифрового актива.</a:t>
            </a:r>
            <a:endParaRPr lang="en-US" sz="31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Электронные деньги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956048" y="4617720"/>
            <a:ext cx="2286000" cy="0"/>
          </a:xfrm>
          <a:prstGeom prst="line">
            <a:avLst/>
          </a:prstGeom>
          <a:noFill/>
          <a:ln w="19050">
            <a:solidFill>
              <a:srgbClr val="D9A9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r>
              <a:rPr lang="en-US" sz="1600" b="1" dirty="0">
                <a:solidFill>
                  <a:srgbClr val="E7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группы 676541 Карась А. С.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603504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Минск,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Понятие цифрового актива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1691640"/>
          </a:xfrm>
          <a:prstGeom prst="roundRect">
            <a:avLst>
              <a:gd name="adj" fmla="val 4324"/>
            </a:avLst>
          </a:prstGeom>
          <a:solidFill>
            <a:srgbClr val="F7EFDD"/>
          </a:solidFill>
          <a:ln w="12700">
            <a:solidFill>
              <a:srgbClr val="D9A9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35331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A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234440" y="1536192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актив — информационный ресурс, производный от права на ценность и обращающийся в распределённом реестре в виде уникального идентификатора.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3310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ключевые характеристики цифрового актива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968496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547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Нематериальная форма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952" y="46451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отсутствует физическое присутствие — актив существует только в цифровой среде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5112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3968496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39547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39512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Наличие прав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1144" y="46451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частное лицо или организация имеют права в его отношении либо используют его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47304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3968496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39547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61704" y="3913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03336" y="464515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или материальная, заложенная в активе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595274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цифровым активам не относятся цифровые представления фидуциарных (фиатных) валют.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сущностно-смысловые составляющие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уточнении понятия цифрового актива нужно придерживаться определённых сущностно-смысловых особенностей, представленных четырьмя составляющими.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2514600" y="2834640"/>
            <a:ext cx="3584448" cy="1142999"/>
          </a:xfrm>
          <a:prstGeom prst="line">
            <a:avLst/>
          </a:prstGeom>
          <a:ln w="19050">
            <a:solidFill>
              <a:srgbClr val="8FA0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99048" y="2834640"/>
            <a:ext cx="3575304" cy="1142999"/>
          </a:xfrm>
          <a:prstGeom prst="line">
            <a:avLst/>
          </a:prstGeom>
          <a:ln w="19050">
            <a:solidFill>
              <a:srgbClr val="8FA0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514600" y="3977639"/>
            <a:ext cx="3584448" cy="1508761"/>
          </a:xfrm>
          <a:prstGeom prst="line">
            <a:avLst/>
          </a:prstGeom>
          <a:ln w="19050">
            <a:solidFill>
              <a:srgbClr val="8FA0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3977639"/>
            <a:ext cx="3575304" cy="1508761"/>
          </a:xfrm>
          <a:prstGeom prst="line">
            <a:avLst/>
          </a:prstGeom>
          <a:ln w="19050">
            <a:solidFill>
              <a:srgbClr val="8FA0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90288" y="3603253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2E4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Cambria"/>
              </a:rPr>
              <a:t>Цифровой</a:t>
            </a:r>
            <a:r>
              <a:rPr sz="2000" b="1" dirty="0">
                <a:solidFill>
                  <a:srgbClr val="FFFFFF"/>
                </a:solidFill>
                <a:latin typeface="Cambria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mbria"/>
              </a:rPr>
              <a:t>актив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205740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057400"/>
            <a:ext cx="128016" cy="155448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216712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700" b="1">
                <a:solidFill>
                  <a:srgbClr val="2E5A88"/>
                </a:solidFill>
                <a:latin typeface="Cambria"/>
              </a:rPr>
              <a:t>Экономическая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260604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уникальный идентификатор в финансовой сфере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2672" y="205740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62672" y="2057400"/>
            <a:ext cx="128016" cy="1554480"/>
          </a:xfrm>
          <a:prstGeom prst="rect">
            <a:avLst/>
          </a:prstGeom>
          <a:solidFill>
            <a:srgbClr val="2E4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0" y="216712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700" b="1">
                <a:solidFill>
                  <a:srgbClr val="2E4370"/>
                </a:solidFill>
                <a:latin typeface="Cambria"/>
              </a:rPr>
              <a:t>Правовая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2606040"/>
            <a:ext cx="3611880" cy="249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производность от права на ценность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0916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709160"/>
            <a:ext cx="128016" cy="1554480"/>
          </a:xfrm>
          <a:prstGeom prst="rect">
            <a:avLst/>
          </a:prstGeom>
          <a:solidFill>
            <a:srgbClr val="6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481888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700" b="1">
                <a:solidFill>
                  <a:srgbClr val="6B8E4E"/>
                </a:solidFill>
                <a:latin typeface="Cambria"/>
              </a:rPr>
              <a:t>Информационная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25780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информационный ресурс в распределённом реестре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62672" y="4709160"/>
            <a:ext cx="40233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62672" y="4709160"/>
            <a:ext cx="128016" cy="15544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0" y="481888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700" b="1">
                <a:solidFill>
                  <a:srgbClr val="B7791F"/>
                </a:solidFill>
                <a:latin typeface="Cambria"/>
              </a:rPr>
              <a:t>Ценностная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25780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цифровое отображение ценности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Экономическая и правовая составляющие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Экономическая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уникального идентификатора в финансовой сфере</a:t>
            </a:r>
            <a:endParaRPr lang="en-US" sz="20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идентификатор выделяет актив как самостоятельный объект учёта и обращения</a:t>
            </a:r>
            <a:endParaRPr lang="en-US" sz="20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 может выступать объектом инвестирования, купли-продажи, обмена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Правовая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 не является правом на ценность в классическом толковании</a:t>
            </a:r>
            <a:endParaRPr lang="en-US" sz="20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обладает свойствами производного от права на ценность</a:t>
            </a:r>
            <a:endParaRPr lang="en-US" sz="20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(Декрет № 8) — запись в реестре блоков транзакций или иной распределённой системе, удостоверяющая права на объекты гражданских прав и (или) являющаяся криптовалютой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Информационная составляющая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11201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актив является информационным ресурсом: информация о ценности в цифровом виде обладает основными свойствами информационного ресурса.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12848"/>
            <a:ext cx="530352" cy="530352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91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Структурированность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8895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 структурирована по определённым параметрам и категориям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25112" y="20116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212848"/>
            <a:ext cx="530352" cy="530352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991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39512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Фиксация на носителе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28895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 фиксируется на цифровом носителе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47304" y="20116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212848"/>
            <a:ext cx="530352" cy="530352"/>
          </a:xfrm>
          <a:prstGeom prst="ellipse">
            <a:avLst/>
          </a:prstGeom>
          <a:solidFill>
            <a:srgbClr val="6B8E4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991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061704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Обращаемость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3336" y="28895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информацию можно хранить, передавать, обменивать, использовать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11201400" cy="160020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480560"/>
            <a:ext cx="1065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Особая форма обращения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составляющая представлена в IT-сфере информационным ресурсом, обращающимся в распределённом реестре: целостность и принадлежность записи о ценности обеспечиваются технологией, а не централизованным учётом.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Ценностная составляющая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1691640"/>
          </a:xfrm>
          <a:prstGeom prst="roundRect">
            <a:avLst>
              <a:gd name="adj" fmla="val 4324"/>
            </a:avLst>
          </a:prstGeom>
          <a:solidFill>
            <a:srgbClr val="F7EFDD"/>
          </a:solidFill>
          <a:ln w="12700">
            <a:solidFill>
              <a:srgbClr val="D9A9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36192"/>
            <a:ext cx="1056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актив является своего рода гарантированным правом претендовать на определённое значение стоимости (на ценность), заложенное в данном цифровом активе. Иначе говоря, цифровой актив выступает цифровым отображением ценности.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310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Ценностная составляющая связывает три остальные: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767328"/>
            <a:ext cx="128016" cy="196596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3950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идентификатор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5528" y="46817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закрепляет стоимость за конкретным активом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3767328"/>
            <a:ext cx="128016" cy="1965960"/>
          </a:xfrm>
          <a:prstGeom prst="rect">
            <a:avLst/>
          </a:prstGeom>
          <a:solidFill>
            <a:srgbClr val="2E437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950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Производность от права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46817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опирает претензию на ценность на юридическую основу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47304" y="3767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3767328"/>
            <a:ext cx="128016" cy="196596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3950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Распределённый реестр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39912" y="46817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гарантирует целостность записи о ценности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Примеры цифровых активов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472184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токены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том числе криптовалюты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217920" y="1417320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472184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изображения, видео, документы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2920" y="2523744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78608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данных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массивы данных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17920" y="2523744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578608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модели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модели интернета вещей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02920" y="3630168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685032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товары и услуги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дисковое пространство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17920" y="3630168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685032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Сетевая инфраструктура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доменные имена, IP-адреса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502920" y="4736592"/>
            <a:ext cx="54864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791456"/>
            <a:ext cx="50292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Учётные записи</a:t>
            </a:r>
            <a:endParaRPr lang="en-US" sz="16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сети, электронная почта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актив среди смежных понятий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173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Токен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реестре блоков транзакций или иной распределённой системе, удостоверяющая права владельца и (или) являющаяся криптовалютой (Декрет № 8)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4028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Криптоактив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224028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актив частного сектора на основе технологий шифрования и распределённого реестра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6324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Служебный токен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306324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право доступа к продукту или услуге эмитента или сети-эмитента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88620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Инвестиционный токен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88620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соответствует определению ценной бумаги в своей юрисдикции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70916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Стейблкойн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470916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нацелен на сохранение фиксированной стоимости по отношению к активу или корзине активов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5486400"/>
            <a:ext cx="112014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53212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ЦВЦБ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5532120"/>
            <a:ext cx="8183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валюта центрального банка — его обязательство в действующей расчётной единице; не является криптоактивом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 по вопросу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1201400" cy="1042416"/>
          </a:xfrm>
          <a:prstGeom prst="roundRect">
            <a:avLst>
              <a:gd name="adj" fmla="val 7018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19072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53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9921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актив — информационный ресурс, производный от права на ценность и обращающийся в распределённом реестре в виде уникального идентификатора.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112014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907792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940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724912"/>
            <a:ext cx="9921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понятия раскрывают четыре сущностно-смысловые составляющие: экономическая, правовая, информационная и ценностная.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11201400" cy="1042416"/>
          </a:xfrm>
          <a:prstGeom prst="roundRect">
            <a:avLst>
              <a:gd name="adj" fmla="val 7018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827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913632"/>
            <a:ext cx="9921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 информации о ценности: структурированность, фиксация на цифровом носителе, возможность хранения, передачи, обмена и использования.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5029200"/>
            <a:ext cx="112014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285232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15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5102352"/>
            <a:ext cx="9921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признаки: нематериальная форма, наличие прав у лица, интеллектуальная или материальная ценность.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Понятие и история электронных денег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858000" cy="2788920"/>
          </a:xfrm>
          <a:prstGeom prst="roundRect">
            <a:avLst>
              <a:gd name="adj" fmla="val 2623"/>
            </a:avLst>
          </a:prstGeom>
          <a:solidFill>
            <a:srgbClr val="F7EFDD"/>
          </a:solidFill>
          <a:ln w="12700">
            <a:solidFill>
              <a:srgbClr val="D9A9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179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Национального банка Республики Беларусь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38528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i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Электронные деньги — хранящиеся в электронном виде единицы стоимости, выпущенные в обращение в обмен на наличные или безналичные денежные средства, принимаемые в качестве средства платежа и выражающие сумму обязательства эмитента по возврату денежных средств при их предъявлении.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589520" y="1371600"/>
            <a:ext cx="41148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критерия (Европейский союз)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193852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фиксируются и хранятся на электронном носителе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выпускаются под полное обеспечение денежными средствами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принимаются как средство платежа третьими организациями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38912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 год — появление электронных денег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развитием персональных компьютеров началась электронизация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безналичных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расчётов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ентробанки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 начали мониторинг цифровых продуктов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электронные деньги открыли пользователям доступ к платёжной системе и электронной коммерции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Электронные и безналичные деньги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7EFDD"/>
          </a:solidFill>
          <a:ln w="12700">
            <a:solidFill>
              <a:srgbClr val="D9A9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4475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Распространённое заблуждение — отождествление электронных денег с безналичными деньгами.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4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Безналичные деньги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127248"/>
            <a:ext cx="4983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по банковским счетам, персонифицированы</a:t>
            </a:r>
            <a:endParaRPr lang="en-US" sz="16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операция проходит через банк</a:t>
            </a:r>
            <a:endParaRPr lang="en-US" sz="16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регулируется банковским законодательством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42316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Электронные деньги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3127248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 наличных денег (банкнот), а не безналичная форма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неперсонифицированы, анонимны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многократное использование, уникальные номера цифровых банкнот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переходят от владельца к владельцу без участия кредитных организаций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электронных денег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9344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956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типу технологии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40680" y="150876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смарт-карт и на базе сетей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60904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471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типу собственности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40680" y="256032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и частные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12464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987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наличию идентификации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40680" y="361188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анонимные (неперсонифицированные) и неанонимные (персонифицированные), требующие идентификации пользователя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764024"/>
            <a:ext cx="530352" cy="530352"/>
          </a:xfrm>
          <a:prstGeom prst="ellipse">
            <a:avLst/>
          </a:prstGeom>
          <a:solidFill>
            <a:srgbClr val="2E437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503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6634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типу эквивалента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40680" y="4663440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(M-Pesa), фиатная валюта, криптовалюта, токены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Фиатные и нефиатные электронные деньги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5A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Фиатные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084832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обязательства, выраженные в валюте государства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эмиссия, обращение и погашение — по правилам национальных законодательств и центробанков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смарт-карт: Visa Cash (1995)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базе сетей: PayPal (1998), M-PESA, предоплаченные карточки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Нефиатные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084832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обязательства негосударственных систем — частные деньги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эмиссии и обращения устанавливает сама платёжная система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 не гарантирует надёжность и ценность таких единиц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примеры: Perfect Money, EasyPay, WebMoney,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PayCash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валюты</a:t>
            </a:r>
            <a:endParaRPr lang="en-US" sz="1600" dirty="0">
              <a:solidFill>
                <a:srgbClr val="232C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FontTx/>
              <a:buChar char="–"/>
            </a:pP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нефиатная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неофициальная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биткоин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эфир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нефиатная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официальная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петро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Венесуэла</a:t>
            </a: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2018).</a:t>
            </a:r>
            <a:endParaRPr lang="en-US" sz="1600" dirty="0"/>
          </a:p>
          <a:p>
            <a:pPr marL="127000" indent="-127000">
              <a:lnSpc>
                <a:spcPct val="108000"/>
              </a:lnSpc>
              <a:spcAft>
                <a:spcPts val="1000"/>
              </a:spcAft>
              <a:buSzPct val="100000"/>
              <a:buChar char="–"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444" y="5897880"/>
            <a:ext cx="10513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хранения и типы систем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Аппаратные продукты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Покупательная способность — на чип-карте с аппаратными функциями безопасности. Передача значений через считыватели без сетевого подключения.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36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Программные продукты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 обычных устройствах (ПК, планшет). Для передачи значений нужно онлайн-соединение с сервером, контролирующим стоимость. Есть комбинированные схемы.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977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способу хранения и перевода стоимости: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«Балансовые» (balance-based)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77240" y="50109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еревод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стоимости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правило онлайн, неанонимны, под надзором регулятора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443484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«Символьные» (note-based)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50109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тоимость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виде цифровых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эквивалентов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банкнот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600" dirty="0" err="1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опускают</a:t>
            </a: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анонимность, близки к наличным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системы электронных денег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7EFDD"/>
          </a:solidFill>
          <a:ln w="12700">
            <a:solidFill>
              <a:srgbClr val="D9A94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i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электронных денег — модель с набором подсистем, позволяющих электронной стоимости перемещаться под контролем системного администратора, контролирующего безопасность создания, обращения и уничтожения стоимости в рамках системы.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502920" y="2788920"/>
            <a:ext cx="7635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788920"/>
            <a:ext cx="128016" cy="105156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2880360"/>
            <a:ext cx="7178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232C3E"/>
                </a:solidFill>
                <a:latin typeface="Cambria"/>
              </a:rPr>
              <a:t>Область взаиморасчётов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264408"/>
            <a:ext cx="7178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урегулирование межбанковских обязательств по трансакциям электронных денег: финансовые институты, клиринговые палаты, центральный банк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14800"/>
            <a:ext cx="7635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114800"/>
            <a:ext cx="128016" cy="1051560"/>
          </a:xfrm>
          <a:prstGeom prst="rect">
            <a:avLst/>
          </a:prstGeom>
          <a:solidFill>
            <a:srgbClr val="2E4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206240"/>
            <a:ext cx="7178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232C3E"/>
                </a:solidFill>
                <a:latin typeface="Cambria"/>
              </a:rPr>
              <a:t>Эмиссионная область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590288"/>
            <a:ext cx="7178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эмиссия и эквайринг электронной стоимости, взаимодействие с клирингово-расчётной областью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40680"/>
            <a:ext cx="7635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5440680"/>
            <a:ext cx="128016" cy="1051560"/>
          </a:xfrm>
          <a:prstGeom prst="rect">
            <a:avLst/>
          </a:prstGeom>
          <a:solidFill>
            <a:srgbClr val="6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5532120"/>
            <a:ext cx="7178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1">
                <a:solidFill>
                  <a:srgbClr val="232C3E"/>
                </a:solidFill>
                <a:latin typeface="Cambria"/>
              </a:rPr>
              <a:t>Область использования (розничная)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5916168"/>
            <a:ext cx="7178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>
                <a:solidFill>
                  <a:srgbClr val="3F4A5C"/>
                </a:solidFill>
                <a:latin typeface="Calibri"/>
              </a:rPr>
              <a:t>повседневные платежи: держатель (плательщик) → получатель электронных денег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15968" y="3840480"/>
            <a:ext cx="0" cy="274320"/>
          </a:xfrm>
          <a:prstGeom prst="line">
            <a:avLst/>
          </a:prstGeom>
          <a:ln w="28575">
            <a:solidFill>
              <a:srgbClr val="8FA0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15968" y="5166360"/>
            <a:ext cx="0" cy="274320"/>
          </a:xfrm>
          <a:prstGeom prst="line">
            <a:avLst/>
          </a:prstGeom>
          <a:ln w="28575">
            <a:solidFill>
              <a:srgbClr val="8FA0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412480" y="2788920"/>
            <a:ext cx="3273552" cy="370332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8512" y="294436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2E4370"/>
                </a:solidFill>
                <a:latin typeface="Cambria"/>
              </a:rPr>
              <a:t>Участники системы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2" y="3401568"/>
            <a:ext cx="28346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232C3E"/>
                </a:solidFill>
                <a:latin typeface="Calibri"/>
              </a:rPr>
              <a:t>– эмитент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232C3E"/>
                </a:solidFill>
                <a:latin typeface="Calibri"/>
              </a:rPr>
              <a:t>– держатель / плательщик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232C3E"/>
                </a:solidFill>
                <a:latin typeface="Calibri"/>
              </a:rPr>
              <a:t>– получатель электронных денег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232C3E"/>
                </a:solidFill>
                <a:latin typeface="Calibri"/>
              </a:rPr>
              <a:t>– банки-агенты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>
                <a:solidFill>
                  <a:srgbClr val="232C3E"/>
                </a:solidFill>
                <a:latin typeface="Calibri"/>
              </a:rPr>
              <a:t>– системный администратор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к системам электронных денег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степень соответствия этим требованиям — одно из главных препятствий на пути широкого внедрения электронных денег.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2768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2631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Оффлайновая совместимость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 без прямого подключения к сети связи и без аутентификации третьей стороной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2768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2631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78040" y="19751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создания, обращения и уничтожения стоимости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6484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6347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3467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Анонимность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неперсонифицированное обращение по образцу наличных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6484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6347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78040" y="33467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Окончательность расчётов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 не имеет непогашенных требований к третьим лицам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" y="50200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50063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47183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Портативность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независимость от местоположения; перенос стоимости между устройствами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486400" cy="1243584"/>
          </a:xfrm>
          <a:prstGeom prst="roundRect">
            <a:avLst>
              <a:gd name="adj" fmla="val 5882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5020056"/>
            <a:ext cx="530352" cy="53035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50063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78040" y="4718304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 использования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и доступность платежа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Регулятивная составляющая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Подходы к регулированию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084832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нормы объёма эмиссии исключают выпуск необеспеченных электронных денег</a:t>
            </a:r>
            <a:endParaRPr lang="en-US" sz="16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электронные деньги — денежное обязательство эмитента, в обращении — денежное требование к нему</a:t>
            </a:r>
            <a:endParaRPr lang="en-US" sz="1600" dirty="0"/>
          </a:p>
          <a:p>
            <a:pPr marL="127000" indent="-127000">
              <a:lnSpc>
                <a:spcPct val="11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аналогии: дорожные чеки, векселя, беспроцентный заём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Регулирование в Республике Беларусь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084832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эмитенты — только банки и небанковские кредитно-финансовые организации (регулирование с 2010 года)</a:t>
            </a:r>
            <a:endParaRPr lang="en-US" sz="160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осуществления операций с электронными деньгами (постановление Правления НБ РБ от 26.11.2003 № 201)</a:t>
            </a:r>
            <a:endParaRPr lang="en-US" sz="160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 14, 274 Банковского кодекса Республики Беларусь</a:t>
            </a:r>
            <a:endParaRPr lang="en-US" sz="160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Декрет № 6 от 28.12.2014 — обязательная идентификация владельцев электронных кошельков</a:t>
            </a:r>
            <a:endParaRPr lang="en-US" sz="160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Положение о Парке высоких технологий (Декрет № 12, в редакции Декрета № 8)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Электронные деньги в Республике Беларусь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Уведомили Национальный банк Республики Беларусь о выпуске электронных денег (на 01.01.2021):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Белгазпромбанк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Берлио, V-coin, EasyPay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78308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73952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Белинвестбанк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Оплати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WebMoney Transfer (в белорусских рублях)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3952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Паритетбанк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(оплата по SMS, абоненты МТС и life:)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Дабрабыт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МТС Деньги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370332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73952" y="3703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«Решение»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iPay, QIWI Бел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БПС-Сбербанк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ePay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4663440"/>
            <a:ext cx="5486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32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Беларусбанк, Приорбанк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предоплаченные карточки MasterCard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F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502920" y="5650992"/>
            <a:ext cx="11201400" cy="749808"/>
          </a:xfrm>
          <a:prstGeom prst="roundRect">
            <a:avLst>
              <a:gd name="adj" fmla="val 8000"/>
            </a:avLst>
          </a:prstGeom>
          <a:solidFill>
            <a:srgbClr val="F7EFDD"/>
          </a:solidFill>
          <a:ln w="12700">
            <a:solidFill>
              <a:srgbClr val="D9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24144"/>
            <a:ext cx="106527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>
                <a:solidFill>
                  <a:srgbClr val="232C3E"/>
                </a:solidFill>
                <a:latin typeface="Calibri"/>
              </a:rPr>
              <a:t>Цифровой белорусский рубль</a:t>
            </a:r>
            <a:r>
              <a:rPr sz="1600" b="0">
                <a:solidFill>
                  <a:srgbClr val="232C3E"/>
                </a:solidFill>
                <a:latin typeface="Calibri"/>
              </a:rPr>
              <a:t> — цифровая форма белорусского рубля, законное платёжное средство и прямое требование к Национальному банку. С 1 июля 2026 г. — опытно-промышленная эксплуатация платформы ЦВЦБ.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2179</Words>
  <Application>Microsoft Office PowerPoint</Application>
  <PresentationFormat>Широкоэкранный</PresentationFormat>
  <Paragraphs>278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смысловые особенности цифрового актива. Электронные деньги</dc:title>
  <dc:subject>PptxGenJS Presentation</dc:subject>
  <dc:creator>Карась А. С.</dc:creator>
  <cp:lastModifiedBy>Andrei Karas</cp:lastModifiedBy>
  <cp:revision>8</cp:revision>
  <dcterms:created xsi:type="dcterms:W3CDTF">2026-09-29T19:18:53Z</dcterms:created>
  <dcterms:modified xsi:type="dcterms:W3CDTF">2026-09-30T14:45:28Z</dcterms:modified>
</cp:coreProperties>
</file>