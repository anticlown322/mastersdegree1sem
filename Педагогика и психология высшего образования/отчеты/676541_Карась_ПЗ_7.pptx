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82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Тема ПЗ № 7 – воспитательные системы в вузе; представляет авторскую модель «Синергия».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Опорные определения из темы 7.1. Ключевое свойство воспитания – системность: изменение одного компонента перестраивает всю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Задание: авторская модель на основе сущностных черт и содержания воспитательной системы. Шесть аспектов – скелет модели и структура доклада.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отражает синергетический эффект соединения инженерной и экономической подготовки. Концептуальная база – из «Концепции воспитания в непрерывном образовании»: гуманизм и теория деятельности.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и задачи опираются на цели воспитания в вузе из темы 7.1; принципы – на принципы воспитания и принципы студенческого самоуправления (тема 7.2).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Системообразующий вид деятельности связывает все направления воспитания. Качества модели специалиста – из темы 7.2 (востребованные личностные качества специалистов).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Структурные ряды по заданию: вертикаль – кто действует, горизонталь – как действует. Самоуправление – обязательная сущностная черта воспитательной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Этапы по заданию: разработка модели (общая схема), становление (конкретизация, уточнение деталей), развитие (корректировка и дополнения).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Нормативная база – республиканский уровень (Кодекс об образовании, Концепция) и уровень вуза (устав, планы, положения). Кадровое обеспечение сочетает педагогов и студенческий актив.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Количественные критерии измеримы, качественные оцениваются экспертизой и анкетированием. Именно по этим критериям другие микрогруппы будут оценивать модель на защите.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Инновации отвечают на требование задания о наличии инноваций и развитии контактов: цифровая среда, партнёрство, менторство. Результат замыкает модель на критерии эффективности.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234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«Педагогика и психология высшего образования»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1591056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Воспитательные системы в вузе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20506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Авторская модель </a:t>
            </a:r>
            <a:r>
              <a:rPr lang="en-US" sz="2400" dirty="0" err="1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воспитательной</a:t>
            </a:r>
            <a:r>
              <a:rPr lang="en-US" sz="2400" dirty="0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en-US" sz="2000" b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Карась А. С.</a:t>
            </a:r>
            <a:r>
              <a:rPr lang="en-US" sz="20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группа 676541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5532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воспитательная система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6812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Воспитание</a:t>
            </a:r>
            <a:r>
              <a:rPr lang="en-US" sz="19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процесс целенаправленного формирования личности в условиях специально организованной среды, обеспечивающей взаимодействие воспитателей и воспитуемых.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6812280" cy="0"/>
          </a:xfrm>
          <a:prstGeom prst="line">
            <a:avLst/>
          </a:prstGeom>
          <a:noFill/>
          <a:ln w="12700">
            <a:solidFill>
              <a:srgbClr val="D5D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749040"/>
            <a:ext cx="6812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Воспитательная система вуза</a:t>
            </a:r>
            <a:r>
              <a:rPr lang="en-US" sz="19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упорядоченная целостность взаимосвязанных компонентов: цели, содержание, структура, этапы, обеспечение, критерии эффективности.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26680" y="1645920"/>
            <a:ext cx="3977640" cy="3566160"/>
          </a:xfrm>
          <a:prstGeom prst="roundRect">
            <a:avLst>
              <a:gd name="adj" fmla="val 1839"/>
            </a:avLst>
          </a:prstGeom>
          <a:solidFill>
            <a:srgbClr val="EEF1F7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Черты воспитания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92440" y="2423160"/>
            <a:ext cx="3383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целенаправленность и планомерность</a:t>
            </a:r>
            <a:endParaRPr lang="en-US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двусторонность</a:t>
            </a:r>
            <a:endParaRPr lang="en-US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целостность</a:t>
            </a:r>
            <a:endParaRPr lang="en-US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системность</a:t>
            </a:r>
            <a:endParaRPr lang="en-US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многофакторность</a:t>
            </a:r>
            <a:endParaRPr lang="en-US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91440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аспектов описания воспитательной системы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08483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Сущностные черты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концептуальность, качество условий, социально значимая среда, инновации, контакты, самоуправление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1155680" cy="0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цели и задачи, идеи и принципы, системообразующая деятельность, доминирующий компонент, модель специалиста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355848"/>
            <a:ext cx="11155680" cy="0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015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40156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вертикаль «кто действует» и горизонталь «как действует»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11155680" cy="0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5993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5993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разработка модели, становление, развитие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672584"/>
            <a:ext cx="11155680" cy="0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183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71830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нормативно-правовая база и кадры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5330952"/>
            <a:ext cx="11155680" cy="0"/>
          </a:xfrm>
          <a:prstGeom prst="line">
            <a:avLst/>
          </a:prstGeom>
          <a:noFill/>
          <a:ln w="9525">
            <a:solidFill>
              <a:srgbClr val="E3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37667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37667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эффективности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показатели, по которым оценивается результат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 системы «Синергия»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4708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1746504"/>
            <a:ext cx="654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2376" y="2148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</a:t>
            </a: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инженерно-экономического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профиля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примере ИЭФ БГУИР).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2920" y="312724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026664"/>
            <a:ext cx="654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34290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Воспитание через соединение инженерной и экономической культуры, учёбы, науки и реальной практики.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02920" y="454456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4443984"/>
            <a:ext cx="654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БАЗА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4846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Гуманистическая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педагогика и психология; </a:t>
            </a:r>
            <a:b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Т</a:t>
            </a: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еория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деятельности А. Н. Леонтьева и С. Л. Рубинштейна; </a:t>
            </a:r>
            <a:b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«Концепция воспитания в непрерывном образовании».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80960" y="1746504"/>
            <a:ext cx="3977640" cy="4434840"/>
          </a:xfrm>
          <a:prstGeom prst="roundRect">
            <a:avLst>
              <a:gd name="adj" fmla="val 2299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Синергия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09560" y="2783313"/>
            <a:ext cx="3611880" cy="1291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spc="1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инженерия</a:t>
            </a:r>
            <a:r>
              <a:rPr lang="en-US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ru-RU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br>
              <a:rPr lang="ru-RU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kern="0" spc="1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r>
              <a:rPr lang="en-US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ru-RU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br>
              <a:rPr lang="ru-RU" kern="0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kern="0" spc="1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92440" y="44439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92440" y="4736592"/>
            <a:ext cx="3246120" cy="89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«Готовим не </a:t>
            </a:r>
            <a:r>
              <a:rPr lang="en-US" sz="1500" i="1" dirty="0" err="1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</a:t>
            </a:r>
            <a:r>
              <a:rPr lang="en-US" sz="1500" i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специалиста</a:t>
            </a:r>
            <a:r>
              <a:rPr lang="ru-RU" sz="1500" i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</a:t>
            </a:r>
            <a:r>
              <a:rPr lang="en-US" sz="1500" i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личность, способную брать на себя ответственность и вести за собой»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Цель, задачи и принципы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Гармонично развитый, конкурентоспособный специалист-управленец с активной гражданской позицией.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1183112" cy="1783080"/>
          </a:xfrm>
          <a:prstGeom prst="roundRect">
            <a:avLst>
              <a:gd name="adj" fmla="val 4103"/>
            </a:avLst>
          </a:prstGeom>
          <a:solidFill>
            <a:srgbClr val="F3F5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профессионально-трудовое и гражданско-правовое воспитание</a:t>
            </a:r>
            <a:endParaRPr lang="en-US" sz="1550" dirty="0"/>
          </a:p>
          <a:p>
            <a:pPr marL="127000" indent="-1270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студенческого самоуправления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63640" y="324612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психолого-педагогическая поддержка студентов</a:t>
            </a:r>
            <a:endParaRPr lang="en-US" sz="1550" dirty="0"/>
          </a:p>
          <a:p>
            <a:pPr marL="127000" indent="-1270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мировоззрения будущих специалистов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02920" y="475488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1846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гуманистическая направленность  ·  системность  ·  деятельностный подход  ·  добровольность и выборность  ·  партнёрство  ·  связь воспитания с учебным процессом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Системообразующая деятельность и модель специалиста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5564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165506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СИСТЕМООБРАЗУЮЩИЙ ВИД ДЕЯТЕЛЬНОСТИ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2376" y="20574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 ориентированная проектная деятельность: от учебного кейса – к реальному проекту и студенческому стартапу.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2920" y="344728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34670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ДОМИНИРУЮЩИЙ КОМПОНЕНТ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3749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Профессионально-трудовой</a:t>
            </a:r>
            <a:r>
              <a:rPr lang="en-US" sz="165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опорой на учебно-исследовательскую работу.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269480" y="175564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1655064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СПЕЦИАЛИСТА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52578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1F7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5257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Компетентность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60920" y="44988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2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44988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Инициативность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37398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EF1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37398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Коммуникабельность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35240" y="298094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2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98094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Креативность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0" y="222199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22219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Вертикаль и горизонталь: кто и как действует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1426464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 </a:t>
            </a:r>
            <a:r>
              <a:rPr lang="ru-RU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(КТО ДЕЙСТВУЕТ)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EF1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Ректорат, идеологический отдел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и нормативная база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651760"/>
            <a:ext cx="0" cy="2377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92608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EF1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факультета ИЭФ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зам. декана по ВР, кураторы групп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63240" y="3749040"/>
            <a:ext cx="0" cy="2377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402336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E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Студенческий совет факультета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самоуправление, комиссии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4846320"/>
            <a:ext cx="0" cy="2377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512064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EF1F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2064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 учебных групп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староста и актив группы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79008" y="3840480"/>
            <a:ext cx="457200" cy="0"/>
          </a:xfrm>
          <a:prstGeom prst="line">
            <a:avLst/>
          </a:prstGeom>
          <a:noFill/>
          <a:ln w="15875">
            <a:solidFill>
              <a:srgbClr val="D5DAE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0" y="152704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0256" y="1426464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 </a:t>
            </a:r>
            <a:r>
              <a:rPr lang="ru-RU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ДЕЙСТВУЕТ</a:t>
            </a:r>
            <a:r>
              <a:rPr lang="ru-RU" sz="12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52852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2112264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828800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Учебно-научная комиссия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706624"/>
            <a:ext cx="52852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2990088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706624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Культурно-досуговая комиссия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584448"/>
            <a:ext cx="52852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867912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58444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Спортивно-оздоровительная комиссия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462272"/>
            <a:ext cx="52852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4745736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462272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комиссия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5340096"/>
            <a:ext cx="52852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5623560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5340096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Волонтёрская и социальная комиссия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этапа становления системы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EEF1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схема: концепция, цели, структура, нормативная база, набор первичного актива.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67912" y="35661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EEF1F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Становление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Конкретизация и уточнение деталей: запуск советов и комиссий, первые традиции и события.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99832" y="35661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182880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E2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Развитие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0" y="347472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и дополнения: новые проекты, расширение контактов с наукой и партнёрами.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 завершается рефлексией: оценка по критериям и корректировка модели.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Нормативно-правовое и кадровое обеспечение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EEF1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9384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Нормативно-правовое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Кодекс Республики Беларусь об образовании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«Концепция воспитания в непрерывном образовании»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устав вуза и годовой план воспитательной работы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положения о студенческом совете и о кураторстве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600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3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29384"/>
            <a:ext cx="109728" cy="10972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6739128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Кадровое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9672" y="23774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декана по воспитательной работе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кураторы учебных групп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педагоги-психологи и педагоги-организаторы</a:t>
            </a:r>
            <a:endParaRPr lang="en-US" sz="15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подготовленный студенческий актив (школа актива)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5166360"/>
            <a:ext cx="12191695" cy="1143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663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 – 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«куратор + актив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ru-RU" sz="16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600" dirty="0" err="1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менно</a:t>
            </a:r>
            <a:r>
              <a:rPr lang="en-US" sz="16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этом уровне воспитание доходит до каждого студента.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каким показателям оцениваем систему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КОЛИЧЕСТВЕННЫЕ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успеваемость и посещаемость занятий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студентов в проектах, олимпиадах, конкурсах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воспитательными мероприятиями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трудоустройство выпускников по специальности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725869" y="1691640"/>
            <a:ext cx="0" cy="4297680"/>
          </a:xfrm>
          <a:prstGeom prst="line">
            <a:avLst/>
          </a:prstGeom>
          <a:noFill/>
          <a:ln w="12700">
            <a:solidFill>
              <a:srgbClr val="D5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КАЧЕСТВЕННЫЕ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24028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воспитанности и ценностных ориентаций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социально-психологический климат в группах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 студентов жизнью вуза</a:t>
            </a:r>
            <a:endParaRPr lang="en-US" sz="2000" dirty="0"/>
          </a:p>
          <a:p>
            <a:pPr marL="127000" indent="-127000">
              <a:spcAft>
                <a:spcPts val="14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развитость студенческого самоуправления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Инновации и ожидаемый результат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762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лестница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траектория студента: кейс – проект – стартап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28416" y="164592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02736" y="1920240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21762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платформа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02736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онлайн-среда самоуправления: идеи, голосования, отчёты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53912" y="164592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920240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1762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 с бизнесом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28232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совместные проекты с IT-компаниями и предприятиями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79408" y="164592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1920240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9253728" y="21762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Менторство выпускников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253728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наставники-выпускники для проектных команд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343400"/>
            <a:ext cx="12191695" cy="16916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177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РЕЗУЛЬТАТ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Целостная и непротиворечивая воспитательная система: специалист соответствует модели, растут социальная активность студентов и качество подготовки.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945</Words>
  <Application>Microsoft Office PowerPoint</Application>
  <PresentationFormat>Широкоэкранный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Воспитательные системы в вузе. Авторская модель «Синергия»</dc:title>
  <dc:subject>PptxGenJS Presentation</dc:subject>
  <dc:creator>Карась А. С.</dc:creator>
  <cp:lastModifiedBy>Andrei Karas</cp:lastModifiedBy>
  <cp:revision>4</cp:revision>
  <dcterms:created xsi:type="dcterms:W3CDTF">2026-09-20T14:02:03Z</dcterms:created>
  <dcterms:modified xsi:type="dcterms:W3CDTF">2026-09-20T14:28:48Z</dcterms:modified>
</cp:coreProperties>
</file>