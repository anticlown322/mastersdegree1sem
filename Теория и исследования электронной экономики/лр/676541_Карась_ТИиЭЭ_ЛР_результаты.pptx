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8A97"/>
    <a:srgbClr val="878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организаций, единиц</c:v>
                </c:pt>
              </c:strCache>
            </c:strRef>
          </c:tx>
          <c:spPr>
            <a:solidFill>
              <a:srgbClr val="2E5A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2C3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3569</c:v>
                </c:pt>
                <c:pt idx="1">
                  <c:v>3958</c:v>
                </c:pt>
                <c:pt idx="2">
                  <c:v>4227</c:v>
                </c:pt>
                <c:pt idx="3">
                  <c:v>4477</c:v>
                </c:pt>
                <c:pt idx="4">
                  <c:v>4536</c:v>
                </c:pt>
                <c:pt idx="5">
                  <c:v>3962</c:v>
                </c:pt>
                <c:pt idx="6">
                  <c:v>4492</c:v>
                </c:pt>
                <c:pt idx="7">
                  <c:v>4996</c:v>
                </c:pt>
                <c:pt idx="8">
                  <c:v>5202</c:v>
                </c:pt>
                <c:pt idx="9">
                  <c:v>5341</c:v>
                </c:pt>
                <c:pt idx="10">
                  <c:v>5412</c:v>
                </c:pt>
                <c:pt idx="11">
                  <c:v>5437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66-49C7-B15D-130A4137BF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5D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ВДС сектора ИКТ в ВВП,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32C3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  <c:pt idx="13">
                  <c:v>2024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2.8</c:v>
                </c:pt>
                <c:pt idx="1">
                  <c:v>3.3</c:v>
                </c:pt>
                <c:pt idx="2">
                  <c:v>3.1</c:v>
                </c:pt>
                <c:pt idx="3">
                  <c:v>3</c:v>
                </c:pt>
                <c:pt idx="4">
                  <c:v>3.5</c:v>
                </c:pt>
                <c:pt idx="5">
                  <c:v>4.5</c:v>
                </c:pt>
                <c:pt idx="6">
                  <c:v>5.2</c:v>
                </c:pt>
                <c:pt idx="7">
                  <c:v>5.6</c:v>
                </c:pt>
                <c:pt idx="8">
                  <c:v>6.5</c:v>
                </c:pt>
                <c:pt idx="9">
                  <c:v>7.3</c:v>
                </c:pt>
                <c:pt idx="10">
                  <c:v>7.5</c:v>
                </c:pt>
                <c:pt idx="11">
                  <c:v>6.5</c:v>
                </c:pt>
                <c:pt idx="12">
                  <c:v>5.4</c:v>
                </c:pt>
                <c:pt idx="13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83-4C1D-B3D0-08129BAC17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5D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Выручка, млн руб.</c:v>
                </c:pt>
              </c:strCache>
            </c:strRef>
          </c:tx>
          <c:spPr>
            <a:solidFill>
              <a:srgbClr val="2E5A88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1969</c:v>
                </c:pt>
                <c:pt idx="1">
                  <c:v>3673.5</c:v>
                </c:pt>
                <c:pt idx="2">
                  <c:v>4869.8999999999996</c:v>
                </c:pt>
                <c:pt idx="3">
                  <c:v>5116.3999999999996</c:v>
                </c:pt>
                <c:pt idx="4">
                  <c:v>6657.9</c:v>
                </c:pt>
                <c:pt idx="5">
                  <c:v>7838</c:v>
                </c:pt>
                <c:pt idx="6">
                  <c:v>9235.4</c:v>
                </c:pt>
                <c:pt idx="7">
                  <c:v>11315.9</c:v>
                </c:pt>
                <c:pt idx="8">
                  <c:v>14778.8</c:v>
                </c:pt>
                <c:pt idx="9">
                  <c:v>16704.900000000001</c:v>
                </c:pt>
                <c:pt idx="10">
                  <c:v>19616.5</c:v>
                </c:pt>
                <c:pt idx="11">
                  <c:v>20331.8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17-4B84-AA5E-87B2CDC22A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5D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Затраты, млн руб.</c:v>
                </c:pt>
              </c:strCache>
            </c:strRef>
          </c:tx>
          <c:spPr>
            <a:solidFill>
              <a:srgbClr val="2E5A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C3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прочие затраты</c:v>
                </c:pt>
                <c:pt idx="1">
                  <c:v>услуги сторонних организаций</c:v>
                </c:pt>
                <c:pt idx="2">
                  <c:v>машины и оборудование</c:v>
                </c:pt>
                <c:pt idx="3">
                  <c:v>программное обеспечение</c:v>
                </c:pt>
                <c:pt idx="4">
                  <c:v>телекоммуникационные услуги</c:v>
                </c:pt>
                <c:pt idx="5">
                  <c:v>обучение работников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169</c:v>
                </c:pt>
                <c:pt idx="1">
                  <c:v>137.9</c:v>
                </c:pt>
                <c:pt idx="2">
                  <c:v>95.2</c:v>
                </c:pt>
                <c:pt idx="3">
                  <c:v>46.8</c:v>
                </c:pt>
                <c:pt idx="4">
                  <c:v>13.2</c:v>
                </c:pt>
                <c:pt idx="5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4B-4382-8274-13ECE60360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5D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Экспорт услуг, млн долл. США</c:v>
                </c:pt>
              </c:strCache>
            </c:strRef>
          </c:tx>
          <c:spPr>
            <a:solidFill>
              <a:srgbClr val="2E5A88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456.4</c:v>
                </c:pt>
                <c:pt idx="1">
                  <c:v>592.20000000000005</c:v>
                </c:pt>
                <c:pt idx="2">
                  <c:v>740.8</c:v>
                </c:pt>
                <c:pt idx="3">
                  <c:v>897</c:v>
                </c:pt>
                <c:pt idx="4">
                  <c:v>1003.5</c:v>
                </c:pt>
                <c:pt idx="5">
                  <c:v>1152.3</c:v>
                </c:pt>
                <c:pt idx="6">
                  <c:v>1445.3</c:v>
                </c:pt>
                <c:pt idx="7">
                  <c:v>1840.5</c:v>
                </c:pt>
                <c:pt idx="8">
                  <c:v>2392.5</c:v>
                </c:pt>
                <c:pt idx="9">
                  <c:v>2685.2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77-40F4-A754-964411F9B5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Импорт услуг, млн долл. США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180.2</c:v>
                </c:pt>
                <c:pt idx="1">
                  <c:v>206.4</c:v>
                </c:pt>
                <c:pt idx="2">
                  <c:v>194.1</c:v>
                </c:pt>
                <c:pt idx="3">
                  <c:v>223</c:v>
                </c:pt>
                <c:pt idx="4">
                  <c:v>206.1</c:v>
                </c:pt>
                <c:pt idx="5">
                  <c:v>231.6</c:v>
                </c:pt>
                <c:pt idx="6">
                  <c:v>236.1</c:v>
                </c:pt>
                <c:pt idx="7">
                  <c:v>279.10000000000002</c:v>
                </c:pt>
                <c:pt idx="8">
                  <c:v>403.9</c:v>
                </c:pt>
                <c:pt idx="9">
                  <c:v>423.1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77-40F4-A754-964411F9B5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5D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организаций-резидентов, единиц</c:v>
                </c:pt>
              </c:strCache>
            </c:strRef>
          </c:tx>
          <c:spPr>
            <a:solidFill>
              <a:srgbClr val="6B8E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32C3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102</c:v>
                </c:pt>
                <c:pt idx="1">
                  <c:v>113</c:v>
                </c:pt>
                <c:pt idx="2">
                  <c:v>128</c:v>
                </c:pt>
                <c:pt idx="3">
                  <c:v>136</c:v>
                </c:pt>
                <c:pt idx="4">
                  <c:v>147</c:v>
                </c:pt>
                <c:pt idx="5">
                  <c:v>161</c:v>
                </c:pt>
                <c:pt idx="6">
                  <c:v>191</c:v>
                </c:pt>
                <c:pt idx="7">
                  <c:v>454</c:v>
                </c:pt>
                <c:pt idx="8">
                  <c:v>751</c:v>
                </c:pt>
                <c:pt idx="9">
                  <c:v>962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54-4E50-B2E0-E98F9E990B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5D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Выручка, млн руб.</c:v>
                </c:pt>
              </c:strCache>
            </c:strRef>
          </c:tx>
          <c:spPr>
            <a:ln w="31750" cap="flat">
              <a:solidFill>
                <a:srgbClr val="2E5A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5A88"/>
              </a:solidFill>
              <a:ln w="9525" cap="flat">
                <a:solidFill>
                  <a:srgbClr val="2E5A8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C3E"/>
                    </a:solidFill>
                    <a:latin typeface="Arial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1794.3</c:v>
                </c:pt>
                <c:pt idx="1">
                  <c:v>2140.5</c:v>
                </c:pt>
                <c:pt idx="2">
                  <c:v>3398.1</c:v>
                </c:pt>
                <c:pt idx="3">
                  <c:v>5331.6</c:v>
                </c:pt>
                <c:pt idx="4">
                  <c:v>7437.4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9E-4AB0-8474-066C8039D0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Чистая прибыль, млн руб.</c:v>
                </c:pt>
              </c:strCache>
            </c:strRef>
          </c:tx>
          <c:spPr>
            <a:ln w="31750" cap="flat">
              <a:solidFill>
                <a:srgbClr val="6B8E4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8E4E"/>
              </a:solidFill>
              <a:ln w="9525" cap="flat">
                <a:solidFill>
                  <a:srgbClr val="6B8E4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C3E"/>
                    </a:solidFill>
                    <a:latin typeface="Arial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338</c:v>
                </c:pt>
                <c:pt idx="1">
                  <c:v>436.3</c:v>
                </c:pt>
                <c:pt idx="2">
                  <c:v>723.9</c:v>
                </c:pt>
                <c:pt idx="3">
                  <c:v>1016.2</c:v>
                </c:pt>
                <c:pt idx="4">
                  <c:v>1665.1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9E-4AB0-8474-066C8039D03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5D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Абоненты всех видов передачи данных, тысяч</c:v>
                </c:pt>
              </c:strCache>
            </c:strRef>
          </c:tx>
          <c:spPr>
            <a:ln w="31750" cap="flat">
              <a:solidFill>
                <a:srgbClr val="2E5A8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5A88"/>
              </a:solidFill>
              <a:ln w="9525" cap="flat">
                <a:solidFill>
                  <a:srgbClr val="2E5A88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  <c:pt idx="13">
                  <c:v>2024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7528.3</c:v>
                </c:pt>
                <c:pt idx="1">
                  <c:v>9218.2999999999993</c:v>
                </c:pt>
                <c:pt idx="2">
                  <c:v>10320.299999999999</c:v>
                </c:pt>
                <c:pt idx="3">
                  <c:v>10526.8</c:v>
                </c:pt>
                <c:pt idx="4">
                  <c:v>11149.3</c:v>
                </c:pt>
                <c:pt idx="5">
                  <c:v>12109</c:v>
                </c:pt>
                <c:pt idx="6">
                  <c:v>12773.9</c:v>
                </c:pt>
                <c:pt idx="7">
                  <c:v>13573.1</c:v>
                </c:pt>
                <c:pt idx="8">
                  <c:v>13710.4</c:v>
                </c:pt>
                <c:pt idx="9">
                  <c:v>13943.8</c:v>
                </c:pt>
                <c:pt idx="10">
                  <c:v>14023.9</c:v>
                </c:pt>
                <c:pt idx="11">
                  <c:v>14073.5</c:v>
                </c:pt>
                <c:pt idx="12">
                  <c:v>14256</c:v>
                </c:pt>
                <c:pt idx="13">
                  <c:v>14525.9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8C-469E-A5E0-F28DFB7A0A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5D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2E5A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C3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Интернет</c:v>
                </c:pt>
                <c:pt idx="1">
                  <c:v>Веб-сайт</c:v>
                </c:pt>
                <c:pt idx="2">
                  <c:v>Облачные сервисы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98.7</c:v>
                </c:pt>
                <c:pt idx="1">
                  <c:v>70.4</c:v>
                </c:pt>
                <c:pt idx="2">
                  <c:v>30.5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A3-46F4-AFF9-2E8C41EE20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D5D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2E5A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эл. почта</c:v>
                </c:pt>
                <c:pt idx="1">
                  <c:v>поиск информации</c:v>
                </c:pt>
                <c:pt idx="2">
                  <c:v>банковские операции</c:v>
                </c:pt>
                <c:pt idx="3">
                  <c:v>информационные услуги</c:v>
                </c:pt>
                <c:pt idx="4">
                  <c:v>социальные медиа</c:v>
                </c:pt>
                <c:pt idx="5">
                  <c:v>другие финансовые услуги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98.8</c:v>
                </c:pt>
                <c:pt idx="1">
                  <c:v>98.8</c:v>
                </c:pt>
                <c:pt idx="2">
                  <c:v>96.5</c:v>
                </c:pt>
                <c:pt idx="3">
                  <c:v>77.0</c:v>
                </c:pt>
                <c:pt idx="4">
                  <c:v>48.4</c:v>
                </c:pt>
                <c:pt idx="5">
                  <c:v>40.4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26-4224-BFDA-A03FE49E7C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D5D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8FA0C4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Брестская</c:v>
                </c:pt>
                <c:pt idx="1">
                  <c:v>Витебская</c:v>
                </c:pt>
                <c:pt idx="2">
                  <c:v>Гомельская</c:v>
                </c:pt>
                <c:pt idx="3">
                  <c:v>Гродненская</c:v>
                </c:pt>
                <c:pt idx="4">
                  <c:v>г. Минск</c:v>
                </c:pt>
                <c:pt idx="5">
                  <c:v>Минская</c:v>
                </c:pt>
                <c:pt idx="6">
                  <c:v>Могилевская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260</c:v>
                </c:pt>
                <c:pt idx="1">
                  <c:v>211</c:v>
                </c:pt>
                <c:pt idx="2">
                  <c:v>286</c:v>
                </c:pt>
                <c:pt idx="3">
                  <c:v>227</c:v>
                </c:pt>
                <c:pt idx="4">
                  <c:v>3587</c:v>
                </c:pt>
                <c:pt idx="5">
                  <c:v>438</c:v>
                </c:pt>
                <c:pt idx="6">
                  <c:v>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2A-4DAA-AC26-BCC98F5044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2E5A8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Брестская</c:v>
                </c:pt>
                <c:pt idx="1">
                  <c:v>Витебская</c:v>
                </c:pt>
                <c:pt idx="2">
                  <c:v>Гомельская</c:v>
                </c:pt>
                <c:pt idx="3">
                  <c:v>Гродненская</c:v>
                </c:pt>
                <c:pt idx="4">
                  <c:v>г. Минск</c:v>
                </c:pt>
                <c:pt idx="5">
                  <c:v>Минская</c:v>
                </c:pt>
                <c:pt idx="6">
                  <c:v>Могилевская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249</c:v>
                </c:pt>
                <c:pt idx="1">
                  <c:v>233</c:v>
                </c:pt>
                <c:pt idx="2">
                  <c:v>293</c:v>
                </c:pt>
                <c:pt idx="3">
                  <c:v>230</c:v>
                </c:pt>
                <c:pt idx="4">
                  <c:v>3788</c:v>
                </c:pt>
                <c:pt idx="5">
                  <c:v>489</c:v>
                </c:pt>
                <c:pt idx="6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2A-4DAA-AC26-BCC98F504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5D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056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Лабораторная работа 1 по дисциплине «Теория и исследования электронной экономики. Часть 1».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Число организаций выросло на 52,3 % за 2011–2022 гг. ВДС сектора в текущих ценах выросла в 15,4 раза. Высокая концентрация в столице.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Доля ВДС сектора ИКТ в ВВП выросла с 2,8 % до 7,5 % (2021), затем снизилась до 5,4 % (2023–2024).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Выручка выросла в 10,3 раза, чистая прибыль — в 12 раз. Рентабельность продаж стабильна: 13,8–19,4 %.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Новые данные сборника 2021 года: структура затрат резидентов ПВТ за 2020 год и общий объем затрат сектора ИКТ.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Экспорт услуг ИКТ вырос в 5,9 раза; его доля в экспорте услуг республики — с 9 до 30,7 %. Основа экспорта — компьютерные услуги.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ПВТ — ключевой институт развития электронной экономики: резиденты выросли в 9,4 раза, отгрузка — в 50 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таблицы 4.2 сборника 2021 года: выручка, чистая прибыль, рентабельность и доля убыточных резидентов ПВТ.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Абонентская база передачи данных выросла в 1,9 раза; потребление данных — в 2,2 раза за 2019–2024 гг.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использование ИКТ организациями в динамике; справа — ключевые значения по населению и организациям.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Динамика целей использования Интернета по данным сборников 2021, 2023 и 2025 годов.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Высокая территориальная концентрация: две трети организаций сектора — в столице. Регионы растут неравномерно.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выводов по результатам анализа: масштабы, вклад в ВВП, торговля услугами, ПВТ, инфраструктура и региональная концентрация.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Министерство образования Республики Беларусь   |   Учреждение образования «БГУИР»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41248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Инженерно-экономический факультет   |   Кафедра менеджмента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1783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6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по дисциплине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2121408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6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«Теория и исследования электронной экономики. Часть 1»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Методика оценки уровня развития НЭЭС и сектора ИКТ</a:t>
            </a:r>
            <a:endParaRPr lang="en-US" sz="31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основе статистических данных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956048" y="4160520"/>
            <a:ext cx="2286000" cy="0"/>
          </a:xfrm>
          <a:prstGeom prst="line">
            <a:avLst/>
          </a:prstGeom>
          <a:noFill/>
          <a:ln w="19050">
            <a:solidFill>
              <a:srgbClr val="D9A9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r>
              <a:rPr lang="en-US" sz="16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группы 676541 Карась А. С.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983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</a:t>
            </a:r>
            <a:r>
              <a:rPr lang="en-US" sz="1600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Князькова В. С., кандидат экономических наук, доцент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5989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Минск,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7">
            <a:extLst>
              <a:ext uri="{FF2B5EF4-FFF2-40B4-BE49-F238E27FC236}">
                <a16:creationId xmlns:a16="http://schemas.microsoft.com/office/drawing/2014/main" id="{42FA1E4C-73A1-3093-C2D4-38CD9CBFF43F}"/>
              </a:ext>
            </a:extLst>
          </p:cNvPr>
          <p:cNvSpPr/>
          <p:nvPr/>
        </p:nvSpPr>
        <p:spPr>
          <a:xfrm>
            <a:off x="7452360" y="5138928"/>
            <a:ext cx="4206240" cy="1002640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шестая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сектора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(69 %) и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73 % ВДС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сектора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сосредоточены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г.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Минске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solidFill>
                <a:srgbClr val="002060"/>
              </a:solidFill>
            </a:endParaRPr>
          </a:p>
          <a:p>
            <a:endParaRPr lang="ru-RU" dirty="0"/>
          </a:p>
        </p:txBody>
      </p:sp>
      <p:sp>
        <p:nvSpPr>
          <p:cNvPr id="3" name="Text 1"/>
          <p:cNvSpPr/>
          <p:nvPr/>
        </p:nvSpPr>
        <p:spPr>
          <a:xfrm>
            <a:off x="502920" y="50213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Число организаций и валовая добавленная стоимость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23927"/>
            <a:ext cx="11475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данных по числу организаций сектора ИКТ за период с 2011 по 2022 г. показывает, что их число увеличилось на 1868 организаций (почти в полтора раза). Валовая добавленная стоимость сектора за этот период выросла более чем в четырнадцать раз.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247006629"/>
              </p:ext>
            </p:extLst>
          </p:nvPr>
        </p:nvGraphicFramePr>
        <p:xfrm>
          <a:off x="365760" y="2011335"/>
          <a:ext cx="676656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081545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организаций сектора ИКТ, единиц (2011–2022)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52360" y="1938527"/>
            <a:ext cx="4206240" cy="1396289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2048256"/>
            <a:ext cx="38404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+52,3 %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35240" y="2532888"/>
            <a:ext cx="384048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числа организаций сектора ИКТ за 2011–2022 гг. (с 3569 до 5437)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52360" y="3523183"/>
            <a:ext cx="4206240" cy="1399032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3632411"/>
            <a:ext cx="38404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15,4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635240" y="4070452"/>
            <a:ext cx="384048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валовой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добавленной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стоимости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сектора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ИКТ — с 875,2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13 438,9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(2011 и 2024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гг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52360" y="47548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0213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Доля валовой добавленной стоимости сектора ИКТ в ВВП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23927"/>
            <a:ext cx="11475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доли валовой добавленной стоимости сектора ИКТ к ВВП показывает существенный рост значения показателя: за 2011–2021 гг. оно увеличилось почти в три раза. В 2022–2024 гг. значение показателя стабилизировалось на уровне 5,4 %.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938528"/>
          <a:ext cx="722376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ВДС сектора ИКТ в ВВП, процентов (2011–2024)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09560" y="1938528"/>
            <a:ext cx="3794760" cy="1234440"/>
          </a:xfrm>
          <a:prstGeom prst="roundRect">
            <a:avLst>
              <a:gd name="adj" fmla="val 444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092440" y="2048256"/>
            <a:ext cx="34290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B8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2,8 % → 7,5 %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092440" y="2509123"/>
            <a:ext cx="3429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устойчивый рост вклада сектора ИКТ в ВВП в 2011–2021 гг.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09560" y="3355848"/>
            <a:ext cx="3794760" cy="1405433"/>
          </a:xfrm>
          <a:prstGeom prst="roundRect">
            <a:avLst>
              <a:gd name="adj" fmla="val 444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092440" y="3465576"/>
            <a:ext cx="34290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5,4 %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092440" y="39593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2023–2024 гг. — снижение после 2022 года: санкционные ограничения, отток специалистов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09560" y="4980737"/>
            <a:ext cx="3794760" cy="1209039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вклада сектора в ВВП достигнут в 2021 </a:t>
            </a:r>
            <a:r>
              <a:rPr lang="en-US" sz="160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году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ru-RU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последующие два года значение показателя стабилизировалось на уровне 5,4 %.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0213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Выручка, прибыль и рентабельность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23927"/>
            <a:ext cx="11475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финансовых показателей показывает, что выручка организаций сектора ИКТ за 2011–2022 гг. выросла в 10,3 раза, чистая прибыль — в 12,0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раза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ентабельность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продаж составляла 13,8–19,4 %.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938528"/>
          <a:ext cx="676656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от реализации продукции, товаров, работ, услуг, млн руб. (2011–2022)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52360" y="2065020"/>
            <a:ext cx="4206240" cy="1153668"/>
          </a:xfrm>
          <a:prstGeom prst="roundRect">
            <a:avLst>
              <a:gd name="adj" fmla="val 4800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635240" y="2116074"/>
            <a:ext cx="3840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10,3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35240" y="2561758"/>
            <a:ext cx="3840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выручки за 2011–2022 гг. — с 1969,0 до 20 331,8 млн руб.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52360" y="3496056"/>
            <a:ext cx="4206240" cy="1153668"/>
          </a:xfrm>
          <a:prstGeom prst="roundRect">
            <a:avLst>
              <a:gd name="adj" fmla="val 4800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635240" y="3605784"/>
            <a:ext cx="3840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12,0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635240" y="4052389"/>
            <a:ext cx="3840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чистой прибыли — со 188,2 до 2265,1 млн руб.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52360" y="4832604"/>
            <a:ext cx="4206240" cy="1153668"/>
          </a:xfrm>
          <a:prstGeom prst="roundRect">
            <a:avLst>
              <a:gd name="adj" fmla="val 4800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635240" y="4942332"/>
            <a:ext cx="3840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13,8 – 19,4 %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35240" y="5393609"/>
            <a:ext cx="3840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рентабельность продаж в секторе по годам периода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0213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Затраты на разработку, внедрение и использование цифровых технологий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25296"/>
            <a:ext cx="11475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2020 году затраты организаций сектора ИКТ на цифровые технологии составили 847,8 млн руб., организаций − резидентов ПВТ — 463,9 млн руб. Основные направления затрат резидентов — прочие затраты и оплата услуг сторонних организаций.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938528"/>
          <a:ext cx="676656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затрат резидентов ПВТ на цифровые технологии, млн руб. (2020)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52360" y="1938528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635240" y="2048256"/>
            <a:ext cx="38404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847,8 млн руб.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35240" y="2534733"/>
            <a:ext cx="384048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 организаций сектора ИКТ на цифровые технологии (2020)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52360" y="3310128"/>
            <a:ext cx="4206240" cy="1386230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635240" y="3419856"/>
            <a:ext cx="38404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463,9 млн руб.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635240" y="38964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 резидентов ПВТ на разработку, внедрение и использование цифровых технологий (2020)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452360" y="4915814"/>
            <a:ext cx="4206240" cy="1209039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треть затрат резидентов (29,7 %) — оплата услуг сторонних организаций и специалистов, в том числе 10,5 % — облачные сервисы.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0213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Экспорт и импорт услуг сектора ИКТ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23927"/>
            <a:ext cx="11475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внешней торговли услугами показывает рост экспорта услуг сектора ИКТ в 5,9 раза за 2011–2020 гг. Экспорт устойчиво в 5–6 раз превышает импорт: торговля услугами сектора профицитна.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938528"/>
          <a:ext cx="722376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и импорт услуг сектора ИКТ, млн долл. США (2011–2020)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09560" y="1938528"/>
            <a:ext cx="3794760" cy="1405433"/>
          </a:xfrm>
          <a:prstGeom prst="roundRect">
            <a:avLst>
              <a:gd name="adj" fmla="val 444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092440" y="2048256"/>
            <a:ext cx="34290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5,9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092440" y="2612441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экспорта услуг ИКТ за 2011–2020 гг. — с 456,4 до 2685,2 млн долл. США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09560" y="3526841"/>
            <a:ext cx="3794760" cy="1234440"/>
          </a:xfrm>
          <a:prstGeom prst="roundRect">
            <a:avLst>
              <a:gd name="adj" fmla="val 444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092440" y="3636569"/>
            <a:ext cx="34290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9 % → 30,7 %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092440" y="4126498"/>
            <a:ext cx="3429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услуг сектора ИКТ в общем объеме экспорта услуг республики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09560" y="4980737"/>
            <a:ext cx="3794760" cy="1209039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93 % экспорта услуг сектора в 2020 году — компьютерные услуги. Экспорт устойчиво в 5–6 раз превышает импорт: сальдо положительное.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0213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Резиденты</a:t>
            </a: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ПВТ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23927"/>
            <a:ext cx="11475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данных по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числу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организаций−резидентов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ПВТ показывает их рост почти в десять раз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 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2011–2020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гг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бъем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отгруженной резидентами продукции увеличился в пятьдесят раз.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938528"/>
          <a:ext cx="676656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организаций − резидентов ПВТ, единиц (2011–2020)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52360" y="1938528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635240" y="2048256"/>
            <a:ext cx="38404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9,4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35240" y="2502712"/>
            <a:ext cx="384048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числа резидентов ПВТ за 2011–2020 гг. — со 102 до 962 организаций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52360" y="3310128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635240" y="3419856"/>
            <a:ext cx="38404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50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635240" y="3851974"/>
            <a:ext cx="384048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отгруженной продукции резидентов — со 140,6 до 7035,6 млн руб.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452360" y="4718304"/>
            <a:ext cx="4206240" cy="1519935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Резиденты ПВТ формировали 54,9 % списочной численности работников сектора ИКТ (2020 год) и обеспечивали основной объем разработки программного обеспечения.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0213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Финансовые результаты резидентов ПВТ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23927"/>
            <a:ext cx="11475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финансовых показателей показывает уверенный рост: выручка резидентов увеличилась с 1794,3 млн руб. в 2016 году до 7437,4 млн руб. в 2020 году, чистая прибыль выросла в 4,9 раза. Рентабельность продаж сохраняется на уровне 24–27 %.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938528"/>
          <a:ext cx="722376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и чистая прибыль организаций − резидентов ПВТ, млн руб. (2016–2020)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09560" y="1938528"/>
            <a:ext cx="3794760" cy="1405433"/>
          </a:xfrm>
          <a:prstGeom prst="roundRect">
            <a:avLst>
              <a:gd name="adj" fmla="val 444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092440" y="2048256"/>
            <a:ext cx="34290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4,9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092440" y="2507641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чистой прибыли резидентов за 2016–2020 гг. — с 338,0 до 1665,1 млн руб.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09560" y="3526841"/>
            <a:ext cx="3794760" cy="1234440"/>
          </a:xfrm>
          <a:prstGeom prst="roundRect">
            <a:avLst>
              <a:gd name="adj" fmla="val 444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092440" y="3636569"/>
            <a:ext cx="34290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24,4 %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092440" y="4123030"/>
            <a:ext cx="3429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рентабельность продаж резидентов в 2020 году (26,3 % в 2016 году)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09560" y="4980737"/>
            <a:ext cx="3794760" cy="1234440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убыточных организаций выросла с 3,7 % (2016) до 19,1 % (2020)</a:t>
            </a:r>
            <a:r>
              <a:rPr lang="ru-RU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Это произошло</a:t>
            </a: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фоне быстрого расширения числа резидентов.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0213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Сеть передачи данных и потребление данных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23927"/>
            <a:ext cx="11475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показывает устойчивый рост абонентской базы передачи данных: с 7528,3 тыс. до 14 525,9 тыс. за 2011–2024 гг. Объем потребленных данных вырос с 3977,4 Пбайт (2019) до 8692,0 Пбайт (2024).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938528"/>
          <a:ext cx="722376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абонентов всех видов передачи данных, тысяч, на конец года (2011–2024)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09560" y="1938528"/>
            <a:ext cx="3794760" cy="1405433"/>
          </a:xfrm>
          <a:prstGeom prst="roundRect">
            <a:avLst>
              <a:gd name="adj" fmla="val 444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092440" y="2048256"/>
            <a:ext cx="34290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1,9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092440" y="2482545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числа абонентов передачи данных — с 7528,3 до 14 525,9 тыс. за 2011–2024 гг.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09560" y="3526841"/>
            <a:ext cx="3794760" cy="1405433"/>
          </a:xfrm>
          <a:prstGeom prst="roundRect">
            <a:avLst>
              <a:gd name="adj" fmla="val 444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092440" y="3636569"/>
            <a:ext cx="34290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2,2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092440" y="4079845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объема потребленных данных — с 3977,4 до 8692,0 Пбайт за 2019–2024 гг.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09560" y="5151730"/>
            <a:ext cx="3794760" cy="1209039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Пропускная способность внешних каналов доступа в сеть Интернет увеличилась с 1551 Гбит/с (2019) до 4220 Гбит/с (2024).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0213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 населения и использование ИКТ организациями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23927"/>
            <a:ext cx="11475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показывает практически полный охват организаций сетью Интернет — 98,7 % в 2020 году. Веб-сайт имеют 70,4 % организаций, локальные вычислительные сети — 78,3 %, облачные сервисы используют 30,5 %.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938528"/>
          <a:ext cx="58521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852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 ИКТ организациями, % к общему числу обследованных (2020)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37960" y="1938528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720840" y="2048256"/>
            <a:ext cx="47548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→ 133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720840" y="2536769"/>
            <a:ext cx="475488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абонента сети Интернет на 100 человек населения (2011 и 2024 гг.)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37960" y="3310128"/>
            <a:ext cx="5120640" cy="1386230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20840" y="3419856"/>
            <a:ext cx="47548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83,6 %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720840" y="381061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интернет-пользователей общались в социальных сетях; 62,6 % — электронная почта и переговоры (2020 год)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37960" y="4915814"/>
            <a:ext cx="5120640" cy="1027786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Интернетом в 2020 году пользовались 98,7 % обследованных организаций; веб-сайт имели 70,4 %, облачные сервисы применяли 30,5 %.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0213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Цели использования сети Интернет организациями в 2020 году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23927"/>
            <a:ext cx="11475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цели организаций в 2020 году — поиск информации и электронная почта (по 98,8 %), банковские операции (96,5 %); реже всего — другие финансовые услуги (40,4 %) и социальные медиа (48,4 %).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938528"/>
          <a:ext cx="722376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использования сети Интернет организациями, % к организациям с доступом (2020)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09560" y="1938528"/>
            <a:ext cx="3794760" cy="1463040"/>
          </a:xfrm>
          <a:prstGeom prst="roundRect">
            <a:avLst>
              <a:gd name="adj" fmla="val 444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092440" y="2048256"/>
            <a:ext cx="34290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98,8 %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092440" y="2612441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организаций используют Интернет для поиска информации и электронной почты (2020 год)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09560" y="3584448"/>
            <a:ext cx="3794760" cy="1499616"/>
          </a:xfrm>
          <a:prstGeom prst="roundRect">
            <a:avLst>
              <a:gd name="adj" fmla="val 444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092440" y="3694176"/>
            <a:ext cx="34290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49,7 %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092440" y="4261104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населения проводили финансовые операции онлайн; покупки товаров — 40,5 %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09560" y="5230368"/>
            <a:ext cx="3794760" cy="1097280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Лидеры целей населения: поиск информации (92,6 %), фильмы и музыка (86,1 %), соцсети (83,6 %).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0213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Организации сектора ИКТ по областям и г. Минску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23927"/>
            <a:ext cx="11475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по областям показывает высокую территориальную концентрацию сектора: около 69 % организаций сосредоточено в г. Минске. Рост числа организаций за 2019–2024 гг. наблюдается в Минской и Витебской областях.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938528"/>
          <a:ext cx="722376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организаций сектора ИКТ по областям и г. Минску, единиц (2019 и 2024)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09560" y="1938528"/>
            <a:ext cx="3794760" cy="1234440"/>
          </a:xfrm>
          <a:prstGeom prst="roundRect">
            <a:avLst>
              <a:gd name="adj" fmla="val 444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092440" y="2048256"/>
            <a:ext cx="34290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69 %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092440" y="2612441"/>
            <a:ext cx="3429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организаций сектора ИКТ сосредоточено в г. Минске (2024 год)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09560" y="3355848"/>
            <a:ext cx="3794760" cy="1405433"/>
          </a:xfrm>
          <a:prstGeom prst="roundRect">
            <a:avLst>
              <a:gd name="adj" fmla="val 444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092440" y="3465576"/>
            <a:ext cx="34290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1,4–1,9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092440" y="4029761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 в секторе по регионам выросла за 2019–2024 гг. — с 1,4 до 3,1 тыс. руб.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09560" y="4980737"/>
            <a:ext cx="3794760" cy="1314704"/>
          </a:xfrm>
          <a:prstGeom prst="roundRect">
            <a:avLst>
              <a:gd name="adj" fmla="val 4615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числа организаций за 2019–2024 гг. — в Минской (+11,6 %) и Витебской (+10,4 %) областях; в Брестской (−4,2 %) и Могилевской (−6,7 %) — снижение.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0213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 выводы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810512"/>
            <a:ext cx="128016" cy="128016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Устойчивый рост масштабов. 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исло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организаций сектора ИКТ за 2011–2022 гг. увеличилось на 52,3 %, выручка выросла в 10,3 раза, чистая прибыль — в 12,0 раза.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414016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28016" cy="128016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2487168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Растущий вклад в ВВП. 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оля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ВДС сектора ИКТ в ВВП повысилась с 2,8 % (2011) до 7,5 % (2021), в 2023–2024 гг. стабилизировалась на уровне 5,4 %.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346704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1520" y="3675888"/>
            <a:ext cx="128016" cy="128016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05840" y="3419856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Экспортно ориентированные услуги. 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кспорт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услуг ИКТ вырос в 5,9 раза (до 2685,2 млн долл. США), его доля в экспорте услуг республики достигла 30,7 %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Т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орговля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услугами устойчиво профицитна.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279392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31520" y="4608576"/>
            <a:ext cx="128016" cy="128016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4352544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ПВТ — драйвер электронной экономики. </a:t>
            </a:r>
            <a:r>
              <a:rPr lang="ru-RU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Кол-во р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езидент</a:t>
            </a:r>
            <a:r>
              <a:rPr lang="ru-RU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ов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выросл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9,4 раза (до 962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организаций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отгруженная продукция — в 50 раз; чистая прибыль резидентов в 2020 году — 1665,1 млн руб. при рентабельности продаж 24,4 %.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212080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" y="5541264"/>
            <a:ext cx="128016" cy="128016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05840" y="5285232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Развитая инфраструктура при концентрации сектора. 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боненты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передачи данных — 14,5 млн, 133 абонента Интернета на 100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этом около 69 % организаций сектора сосредоточено в г. Минске.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5" y="2758727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1767</Words>
  <Application>Microsoft Office PowerPoint</Application>
  <PresentationFormat>Широкоэкранный</PresentationFormat>
  <Paragraphs>145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Методика оценки уровня развития НЭЭС и сектора ИКТ на основе статистических данных</dc:title>
  <dc:subject>PptxGenJS Presentation</dc:subject>
  <dc:creator>Карась А. С.</dc:creator>
  <cp:lastModifiedBy>Andrei Karas</cp:lastModifiedBy>
  <cp:revision>30</cp:revision>
  <dcterms:created xsi:type="dcterms:W3CDTF">2026-09-28T08:45:39Z</dcterms:created>
  <dcterms:modified xsi:type="dcterms:W3CDTF">2026-09-28T20:13:33Z</dcterms:modified>
</cp:coreProperties>
</file>